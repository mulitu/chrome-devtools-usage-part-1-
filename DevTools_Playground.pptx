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to Chrome DevTools Playground. This workshop teaches practical debugging skills through hands-on scenarios. No tutorials — real production failure modes.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a story: a user reports checkout broken in prod. You can't reproduce it locally. What do you do? This is the core problem we solve in this workshop.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goal isn't to teach DevTools features in the abstract. Every exercise is grounded in a realistic failure scenario. You learn the tool because you need it to solve a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stage: this isn't a quiz app or a demo. It's a real shopping scenario. The user's goal is simple — buy headphones. But everything that can go wrong will go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rules. You're an investigator, not a developer with root access. Every real-world debugging session has constraints. Here, the constraint is the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Seven scenarios, progressively more complex. Each one isolates a specific DevTools capability. By the end you've used Local Overrides, network blocking, throttling, header injection, cURL reproduction, logpoints, and React DevTools.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Scenario 1 is the entry point. The price is wrong. Students must use Local Overrides to intercept the API response and return the correct price. No backend change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Scenario 2: a third-party tracker is causing issues. Students learn to right-click a request and block its URL pattern. Instantly eliminates the script without any code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Scenario 3 reveals performance issues invisible on fast networks. Students create a custom throttle profile and apply it to a specific request to reproduce mobile behavior without changing anything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Scenario 4: the checkout flow has a feature flag gated by a custom header. Students learn to inject that header via DevTools Header Overrides — powerful for testing auth flows and feature flags.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Scenario 5: the checkout fails with a cryptic error. Students copy the failing request as cURL and replay it in terminal — isolating the API behavior from the browser environment completely.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Scenario 6: silent bug — wrong totals, no error. Logpoints let you instrument running code non-destructively. Students add a logpoint to inspect variables at the discount calculation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Scenario 7 is the capstone. React DevTools lets you inspect live component state, trigger re-renders, and test props. Students find that buying=false is stuck due to a missing state update.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transformation is the point. Before this workshop, engineers file tickets and wait. After, they investigate directly. DevTools is the bridge between observing a symptom and understanding its cause.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takeaway: this isn't about memorizing menu locations. It's about developing the investigative mindset of someone who knows how to narrow down a problem systematically.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411480"/>
            <a:ext cx="2560320" cy="274320"/>
          </a:xfrm>
          <a:prstGeom prst="roundRect">
            <a:avLst>
              <a:gd name="adj" fmla="val 16667"/>
            </a:avLst>
          </a:prstGeom>
          <a:solidFill>
            <a:srgbClr val="4C3899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114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7C5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WORKSHOP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46634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DevTools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365760" y="2340864"/>
            <a:ext cx="4663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production issues like a real engineer.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2880360"/>
            <a:ext cx="960120" cy="256032"/>
          </a:xfrm>
          <a:prstGeom prst="roundRect">
            <a:avLst>
              <a:gd name="adj" fmla="val 17857"/>
            </a:avLst>
          </a:prstGeom>
          <a:solidFill>
            <a:srgbClr val="1A1F2E"/>
          </a:solidFill>
          <a:ln w="12700">
            <a:solidFill>
              <a:srgbClr val="252A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88036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417320" y="2880360"/>
            <a:ext cx="960120" cy="256032"/>
          </a:xfrm>
          <a:prstGeom prst="roundRect">
            <a:avLst>
              <a:gd name="adj" fmla="val 17857"/>
            </a:avLst>
          </a:prstGeom>
          <a:solidFill>
            <a:srgbClr val="1A1F2E"/>
          </a:solidFill>
          <a:ln w="12700">
            <a:solidFill>
              <a:srgbClr val="252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17320" y="288036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Fullstack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468880" y="2880360"/>
            <a:ext cx="960120" cy="256032"/>
          </a:xfrm>
          <a:prstGeom prst="roundRect">
            <a:avLst>
              <a:gd name="adj" fmla="val 17857"/>
            </a:avLst>
          </a:prstGeom>
          <a:solidFill>
            <a:srgbClr val="1A1F2E"/>
          </a:solidFill>
          <a:ln w="12700">
            <a:solidFill>
              <a:srgbClr val="252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68880" y="288036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303520" y="274320"/>
            <a:ext cx="3566160" cy="4480560"/>
          </a:xfrm>
          <a:prstGeom prst="roundRect">
            <a:avLst>
              <a:gd name="adj" fmla="val 2564"/>
            </a:avLst>
          </a:prstGeom>
          <a:solidFill>
            <a:srgbClr val="161B27"/>
          </a:solidFill>
          <a:ln w="12700">
            <a:solidFill>
              <a:srgbClr val="252A3A"/>
            </a:solidFill>
            <a:prstDash val="solid"/>
          </a:ln>
          <a:effectLst>
            <a:outerShdw sx="100000" sy="100000" kx="0" ky="0" algn="bl" rotWithShape="0" blurRad="254000" dist="50800" dir="2700000">
              <a:srgbClr val="4C3899">
                <a:alpha val="4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03520" y="274320"/>
            <a:ext cx="3566160" cy="329184"/>
          </a:xfrm>
          <a:prstGeom prst="rect">
            <a:avLst/>
          </a:prstGeom>
          <a:solidFill>
            <a:srgbClr val="1A1F2E"/>
          </a:solidFill>
          <a:ln w="12700">
            <a:solidFill>
              <a:srgbClr val="0D0F1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04688" y="393192"/>
            <a:ext cx="109728" cy="109728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669280" y="393192"/>
            <a:ext cx="109728" cy="10972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833872" y="393192"/>
            <a:ext cx="109728" cy="109728"/>
          </a:xfrm>
          <a:prstGeom prst="ellipse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89320" y="310896"/>
            <a:ext cx="2468880" cy="210312"/>
          </a:xfrm>
          <a:prstGeom prst="roundRect">
            <a:avLst>
              <a:gd name="adj" fmla="val 17391"/>
            </a:avLst>
          </a:prstGeom>
          <a:solidFill>
            <a:srgbClr val="0D0F14"/>
          </a:solidFill>
          <a:ln w="12700">
            <a:solidFill>
              <a:srgbClr val="252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89320" y="310896"/>
            <a:ext cx="2468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localhost:5174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303520" y="731520"/>
            <a:ext cx="3566160" cy="365760"/>
          </a:xfrm>
          <a:prstGeom prst="rect">
            <a:avLst/>
          </a:prstGeom>
          <a:solidFill>
            <a:srgbClr val="1A1F2E"/>
          </a:solidFill>
          <a:ln w="12700">
            <a:solidFill>
              <a:srgbClr val="0D0F1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94960" y="7315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/api/product/x1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092440" y="813816"/>
            <a:ext cx="548640" cy="201168"/>
          </a:xfrm>
          <a:prstGeom prst="roundRect">
            <a:avLst>
              <a:gd name="adj" fmla="val 18182"/>
            </a:avLst>
          </a:prstGeom>
          <a:solidFill>
            <a:srgbClr val="4ADE80">
              <a:alpha val="30000"/>
            </a:srgbClr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92440" y="81381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303520" y="1170432"/>
            <a:ext cx="3566160" cy="365760"/>
          </a:xfrm>
          <a:prstGeom prst="rect">
            <a:avLst/>
          </a:prstGeom>
          <a:solidFill>
            <a:srgbClr val="0D0F14"/>
          </a:solidFill>
          <a:ln w="12700">
            <a:solidFill>
              <a:srgbClr val="0D0F1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3520" y="1170432"/>
            <a:ext cx="3566160" cy="365760"/>
          </a:xfrm>
          <a:prstGeom prst="rect">
            <a:avLst/>
          </a:prstGeom>
          <a:solidFill>
            <a:srgbClr val="7C5CFF">
              <a:alpha val="20000"/>
            </a:srgbClr>
          </a:solidFill>
          <a:ln w="12700">
            <a:solidFill>
              <a:srgbClr val="0D0F1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94960" y="1170432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/api/price?id=x1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092440" y="1252728"/>
            <a:ext cx="548640" cy="201168"/>
          </a:xfrm>
          <a:prstGeom prst="roundRect">
            <a:avLst>
              <a:gd name="adj" fmla="val 18182"/>
            </a:avLst>
          </a:prstGeom>
          <a:solidFill>
            <a:srgbClr val="F87171">
              <a:alpha val="30000"/>
            </a:srgbClr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92440" y="12527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303520" y="1609344"/>
            <a:ext cx="3566160" cy="365760"/>
          </a:xfrm>
          <a:prstGeom prst="rect">
            <a:avLst/>
          </a:prstGeom>
          <a:solidFill>
            <a:srgbClr val="1A1F2E"/>
          </a:solidFill>
          <a:ln w="12700">
            <a:solidFill>
              <a:srgbClr val="0D0F1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394960" y="1609344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/analytics/tracker.js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092440" y="1691640"/>
            <a:ext cx="548640" cy="201168"/>
          </a:xfrm>
          <a:prstGeom prst="roundRect">
            <a:avLst>
              <a:gd name="adj" fmla="val 18182"/>
            </a:avLst>
          </a:prstGeom>
          <a:solidFill>
            <a:srgbClr val="FBBF24">
              <a:alpha val="30000"/>
            </a:srgbClr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092440" y="169164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03520" y="2048256"/>
            <a:ext cx="3566160" cy="365760"/>
          </a:xfrm>
          <a:prstGeom prst="rect">
            <a:avLst/>
          </a:prstGeom>
          <a:solidFill>
            <a:srgbClr val="0D0F14"/>
          </a:solidFill>
          <a:ln w="12700">
            <a:solidFill>
              <a:srgbClr val="0D0F1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94960" y="2048256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/api/checkout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092440" y="2130552"/>
            <a:ext cx="548640" cy="201168"/>
          </a:xfrm>
          <a:prstGeom prst="roundRect">
            <a:avLst>
              <a:gd name="adj" fmla="val 18182"/>
            </a:avLst>
          </a:prstGeom>
          <a:solidFill>
            <a:srgbClr val="4ADE80">
              <a:alpha val="30000"/>
            </a:srgbClr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092440" y="21305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457200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C5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777240"/>
            <a:ext cx="4206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debugging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different.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65760" y="1938528"/>
            <a:ext cx="4206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can't reproduce most production bugs in development — the conditions don't exist locally.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937760" y="50292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61B27"/>
          </a:solidFill>
          <a:ln w="12700">
            <a:solidFill>
              <a:srgbClr val="252A3A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30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776" y="612648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0" y="941832"/>
            <a:ext cx="150876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source code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766560" y="50292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61B27"/>
          </a:solidFill>
          <a:ln w="12700">
            <a:solidFill>
              <a:srgbClr val="252A3A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30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4576" y="612648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858000" y="941832"/>
            <a:ext cx="150876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Restart production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937760" y="1572768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61B27"/>
          </a:solidFill>
          <a:ln w="12700">
            <a:solidFill>
              <a:srgbClr val="252A3A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30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5776" y="1682496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029200" y="2011680"/>
            <a:ext cx="150876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API responses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6766560" y="1572768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61B27"/>
          </a:solidFill>
          <a:ln w="12700">
            <a:solidFill>
              <a:srgbClr val="252A3A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30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4576" y="1682496"/>
            <a:ext cx="256032" cy="25603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858000" y="2011680"/>
            <a:ext cx="150876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Disable 3rd-party services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365760" y="2834640"/>
            <a:ext cx="8412480" cy="621792"/>
          </a:xfrm>
          <a:prstGeom prst="roundRect">
            <a:avLst>
              <a:gd name="adj" fmla="val 11765"/>
            </a:avLst>
          </a:prstGeom>
          <a:solidFill>
            <a:srgbClr val="1A1F2E"/>
          </a:solidFill>
          <a:ln w="12700">
            <a:solidFill>
              <a:srgbClr val="252A3A"/>
            </a:solidFill>
            <a:prstDash val="solid"/>
          </a:ln>
        </p:spPr>
      </p:sp>
      <p:sp>
        <p:nvSpPr>
          <p:cNvPr id="18" name="Text 12"/>
          <p:cNvSpPr/>
          <p:nvPr/>
        </p:nvSpPr>
        <p:spPr>
          <a:xfrm>
            <a:off x="365760" y="2834640"/>
            <a:ext cx="8412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F1F5F9"/>
                </a:solidFill>
              </a:rPr>
              <a:t>Instead... You </a:t>
            </a:r>
            <a:pPr algn="ctr" indent="0" marL="0">
              <a:buNone/>
            </a:pPr>
            <a:r>
              <a:rPr lang="en-US" sz="2000" b="1" i="1" dirty="0">
                <a:solidFill>
                  <a:srgbClr val="22D3EE"/>
                </a:solidFill>
              </a:rPr>
              <a:t>investigate.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9436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practical Chrome DevTools skills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1417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a realistic shopping experience.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0" y="2148840"/>
            <a:ext cx="2194560" cy="621792"/>
          </a:xfrm>
          <a:prstGeom prst="roundRect">
            <a:avLst>
              <a:gd name="adj" fmla="val 14706"/>
            </a:avLst>
          </a:prstGeom>
          <a:solidFill>
            <a:srgbClr val="F87171">
              <a:alpha val="15000"/>
            </a:srgbClr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828800" y="2148840"/>
            <a:ext cx="21945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Not tutorials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120640" y="2148840"/>
            <a:ext cx="2194560" cy="621792"/>
          </a:xfrm>
          <a:prstGeom prst="roundRect">
            <a:avLst>
              <a:gd name="adj" fmla="val 14706"/>
            </a:avLst>
          </a:prstGeom>
          <a:solidFill>
            <a:srgbClr val="4ADE80">
              <a:alpha val="15000"/>
            </a:srgbClr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0" y="2148840"/>
            <a:ext cx="21945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Real debugging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0175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mirrors a real production failure mode.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41148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C5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SETUP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731520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user wants to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headphones.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874520"/>
            <a:ext cx="3840480" cy="1691640"/>
          </a:xfrm>
          <a:prstGeom prst="roundRect">
            <a:avLst>
              <a:gd name="adj" fmla="val 5405"/>
            </a:avLst>
          </a:prstGeom>
          <a:solidFill>
            <a:srgbClr val="161B27"/>
          </a:solidFill>
          <a:ln w="12700">
            <a:solidFill>
              <a:srgbClr val="252A3A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3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93392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1560" y="1993392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Wireless Pro Headphones X1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94360" y="2505456"/>
            <a:ext cx="1005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$49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1691640" y="2633472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trike="sngStrike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$999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0" y="411480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MISSION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572000" y="731520"/>
            <a:ext cx="4206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checkout using only Chrome DevTools.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4572000" y="1874520"/>
            <a:ext cx="4206240" cy="621792"/>
          </a:xfrm>
          <a:prstGeom prst="roundRect">
            <a:avLst>
              <a:gd name="adj" fmla="val 11765"/>
            </a:avLst>
          </a:prstGeom>
          <a:solidFill>
            <a:srgbClr val="161B27"/>
          </a:solidFill>
          <a:ln w="12700">
            <a:solidFill>
              <a:srgbClr val="252A3A"/>
            </a:solidFill>
            <a:prstDash val="solid"/>
          </a:ln>
          <a:effectLst>
            <a:outerShdw sx="100000" sy="100000" kx="0" ky="0" algn="bl" rotWithShape="0" blurRad="63500" dist="12700" dir="2700000">
              <a:srgbClr val="000000">
                <a:alpha val="2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572000" y="1874520"/>
            <a:ext cx="42062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gates. 4 skills. 0 code changes.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4572000" y="2651760"/>
            <a:ext cx="4206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Everything. Goes. Wrong.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45720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ALLOWED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1097280" y="914400"/>
            <a:ext cx="2926080" cy="640080"/>
          </a:xfrm>
          <a:prstGeom prst="roundRect">
            <a:avLst>
              <a:gd name="adj" fmla="val 11429"/>
            </a:avLst>
          </a:prstGeom>
          <a:solidFill>
            <a:srgbClr val="161B27"/>
          </a:solidFill>
          <a:ln w="12700">
            <a:solidFill>
              <a:srgbClr val="252A3A"/>
            </a:solidFill>
            <a:prstDash val="solid"/>
          </a:ln>
          <a:effectLst>
            <a:outerShdw sx="100000" sy="100000" kx="0" ky="0" algn="bl" rotWithShape="0" blurRad="63500" dist="12700" dir="2700000">
              <a:srgbClr val="000000">
                <a:alpha val="20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1872" y="1060704"/>
            <a:ext cx="256032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27632" y="10058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 edits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1097280" y="1673352"/>
            <a:ext cx="2926080" cy="640080"/>
          </a:xfrm>
          <a:prstGeom prst="roundRect">
            <a:avLst>
              <a:gd name="adj" fmla="val 11429"/>
            </a:avLst>
          </a:prstGeom>
          <a:solidFill>
            <a:srgbClr val="161B27"/>
          </a:solidFill>
          <a:ln w="12700">
            <a:solidFill>
              <a:srgbClr val="252A3A"/>
            </a:solidFill>
            <a:prstDash val="solid"/>
          </a:ln>
          <a:effectLst>
            <a:outerShdw sx="100000" sy="100000" kx="0" ky="0" algn="bl" rotWithShape="0" blurRad="63500" dist="12700" dir="2700000">
              <a:srgbClr val="000000">
                <a:alpha val="20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1872" y="1819656"/>
            <a:ext cx="256032" cy="25603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627632" y="1764792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access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1097280" y="2432304"/>
            <a:ext cx="2926080" cy="640080"/>
          </a:xfrm>
          <a:prstGeom prst="roundRect">
            <a:avLst>
              <a:gd name="adj" fmla="val 11429"/>
            </a:avLst>
          </a:prstGeom>
          <a:solidFill>
            <a:srgbClr val="161B27"/>
          </a:solidFill>
          <a:ln w="12700">
            <a:solidFill>
              <a:srgbClr val="252A3A"/>
            </a:solidFill>
            <a:prstDash val="solid"/>
          </a:ln>
          <a:effectLst>
            <a:outerShdw sx="100000" sy="100000" kx="0" ky="0" algn="bl" rotWithShape="0" blurRad="63500" dist="12700" dir="2700000">
              <a:srgbClr val="000000">
                <a:alpha val="20000"/>
              </a:srgbClr>
            </a:outerShdw>
          </a:effectLst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1872" y="2578608"/>
            <a:ext cx="256032" cy="25603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627632" y="2523744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Restart the app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5120640" y="45720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THIS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5120640" y="914400"/>
            <a:ext cx="3200400" cy="2331720"/>
          </a:xfrm>
          <a:prstGeom prst="roundRect">
            <a:avLst>
              <a:gd name="adj" fmla="val 4706"/>
            </a:avLst>
          </a:prstGeom>
          <a:solidFill>
            <a:srgbClr val="161B27"/>
          </a:solidFill>
          <a:ln w="25400">
            <a:solidFill>
              <a:srgbClr val="7C5CFF"/>
            </a:solidFill>
            <a:prstDash val="solid"/>
          </a:ln>
          <a:effectLst>
            <a:outerShdw sx="100000" sy="100000" kx="0" ky="0" algn="bl" rotWithShape="0" blurRad="254000" dist="50800" dir="2700000">
              <a:srgbClr val="4C3899">
                <a:alpha val="40000"/>
              </a:srgbClr>
            </a:outerShdw>
          </a:effectLst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097280"/>
            <a:ext cx="640080" cy="64008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120640" y="18745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DevTools</a:t>
            </a:r>
            <a:endParaRPr lang="en-US" sz="2200" dirty="0"/>
          </a:p>
        </p:txBody>
      </p:sp>
      <p:sp>
        <p:nvSpPr>
          <p:cNvPr id="16" name="Text 10"/>
          <p:cNvSpPr/>
          <p:nvPr/>
        </p:nvSpPr>
        <p:spPr>
          <a:xfrm>
            <a:off x="5120640" y="239572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only weapon.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7C5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LEARNING JOURNEY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57607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scenarios. Each one a real skill.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399032" y="2125980"/>
            <a:ext cx="100584" cy="0"/>
          </a:xfrm>
          <a:prstGeom prst="line">
            <a:avLst/>
          </a:prstGeom>
          <a:noFill/>
          <a:ln w="12700">
            <a:solidFill>
              <a:srgbClr val="252A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325880"/>
            <a:ext cx="1078992" cy="1600200"/>
          </a:xfrm>
          <a:prstGeom prst="roundRect">
            <a:avLst>
              <a:gd name="adj" fmla="val 6780"/>
            </a:avLst>
          </a:prstGeom>
          <a:solidFill>
            <a:srgbClr val="161B27"/>
          </a:solidFill>
          <a:ln w="25400">
            <a:solidFill>
              <a:srgbClr val="7C5CFF"/>
            </a:solidFill>
            <a:prstDash val="solid"/>
          </a:ln>
          <a:effectLst>
            <a:outerShdw sx="100000" sy="100000" kx="0" ky="0" algn="bl" rotWithShape="0" blurRad="254000" dist="50800" dir="2700000">
              <a:srgbClr val="4C3899">
                <a:alpha val="4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6656" y="1435608"/>
            <a:ext cx="365760" cy="36576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6656" y="14356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874520"/>
            <a:ext cx="9875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" y="2532888"/>
            <a:ext cx="98755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Overrides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578608" y="2125980"/>
            <a:ext cx="100584" cy="0"/>
          </a:xfrm>
          <a:prstGeom prst="line">
            <a:avLst/>
          </a:prstGeom>
          <a:noFill/>
          <a:ln w="12700">
            <a:solidFill>
              <a:srgbClr val="252A3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499616" y="1325880"/>
            <a:ext cx="1078992" cy="1600200"/>
          </a:xfrm>
          <a:prstGeom prst="roundRect">
            <a:avLst>
              <a:gd name="adj" fmla="val 6780"/>
            </a:avLst>
          </a:prstGeom>
          <a:solidFill>
            <a:srgbClr val="161B27"/>
          </a:solidFill>
          <a:ln w="12700">
            <a:solidFill>
              <a:srgbClr val="252A3A"/>
            </a:solidFill>
            <a:prstDash val="solid"/>
          </a:ln>
          <a:effectLst>
            <a:outerShdw sx="100000" sy="100000" kx="0" ky="0" algn="bl" rotWithShape="0" blurRad="63500" dist="12700" dir="2700000">
              <a:srgbClr val="000000">
                <a:alpha val="2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856232" y="1435608"/>
            <a:ext cx="365760" cy="365760"/>
          </a:xfrm>
          <a:prstGeom prst="ellipse">
            <a:avLst/>
          </a:prstGeom>
          <a:solidFill>
            <a:srgbClr val="1A1F2E"/>
          </a:solidFill>
          <a:ln w="12700">
            <a:solidFill>
              <a:srgbClr val="252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56232" y="14356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545336" y="1874520"/>
            <a:ext cx="9875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545336" y="2532888"/>
            <a:ext cx="98755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Request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758184" y="2125980"/>
            <a:ext cx="100584" cy="0"/>
          </a:xfrm>
          <a:prstGeom prst="line">
            <a:avLst/>
          </a:prstGeom>
          <a:noFill/>
          <a:ln w="12700">
            <a:solidFill>
              <a:srgbClr val="252A3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79192" y="1325880"/>
            <a:ext cx="1078992" cy="1600200"/>
          </a:xfrm>
          <a:prstGeom prst="roundRect">
            <a:avLst>
              <a:gd name="adj" fmla="val 6780"/>
            </a:avLst>
          </a:prstGeom>
          <a:solidFill>
            <a:srgbClr val="161B27"/>
          </a:solidFill>
          <a:ln w="12700">
            <a:solidFill>
              <a:srgbClr val="252A3A"/>
            </a:solidFill>
            <a:prstDash val="solid"/>
          </a:ln>
          <a:effectLst>
            <a:outerShdw sx="100000" sy="100000" kx="0" ky="0" algn="bl" rotWithShape="0" blurRad="63500" dist="12700" dir="2700000">
              <a:srgbClr val="000000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035808" y="1435608"/>
            <a:ext cx="365760" cy="365760"/>
          </a:xfrm>
          <a:prstGeom prst="ellipse">
            <a:avLst/>
          </a:prstGeom>
          <a:solidFill>
            <a:srgbClr val="1A1F2E"/>
          </a:solidFill>
          <a:ln w="12700">
            <a:solidFill>
              <a:srgbClr val="252A3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35808" y="14356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724912" y="1874520"/>
            <a:ext cx="9875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724912" y="2532888"/>
            <a:ext cx="98755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Throttle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937760" y="2125980"/>
            <a:ext cx="100584" cy="0"/>
          </a:xfrm>
          <a:prstGeom prst="line">
            <a:avLst/>
          </a:prstGeom>
          <a:noFill/>
          <a:ln w="12700">
            <a:solidFill>
              <a:srgbClr val="252A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58768" y="1325880"/>
            <a:ext cx="1078992" cy="1600200"/>
          </a:xfrm>
          <a:prstGeom prst="roundRect">
            <a:avLst>
              <a:gd name="adj" fmla="val 6780"/>
            </a:avLst>
          </a:prstGeom>
          <a:solidFill>
            <a:srgbClr val="161B27"/>
          </a:solidFill>
          <a:ln w="25400">
            <a:solidFill>
              <a:srgbClr val="7C5CFF"/>
            </a:solidFill>
            <a:prstDash val="solid"/>
          </a:ln>
          <a:effectLst>
            <a:outerShdw sx="100000" sy="100000" kx="0" ky="0" algn="bl" rotWithShape="0" blurRad="254000" dist="50800" dir="2700000">
              <a:srgbClr val="4C3899">
                <a:alpha val="4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215384" y="1435608"/>
            <a:ext cx="365760" cy="36576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215384" y="14356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904488" y="1874520"/>
            <a:ext cx="9875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904488" y="2532888"/>
            <a:ext cx="98755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 Headers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117336" y="2125980"/>
            <a:ext cx="100584" cy="0"/>
          </a:xfrm>
          <a:prstGeom prst="line">
            <a:avLst/>
          </a:prstGeom>
          <a:noFill/>
          <a:ln w="12700">
            <a:solidFill>
              <a:srgbClr val="252A3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38344" y="1325880"/>
            <a:ext cx="1078992" cy="1600200"/>
          </a:xfrm>
          <a:prstGeom prst="roundRect">
            <a:avLst>
              <a:gd name="adj" fmla="val 6780"/>
            </a:avLst>
          </a:prstGeom>
          <a:solidFill>
            <a:srgbClr val="161B27"/>
          </a:solidFill>
          <a:ln w="12700">
            <a:solidFill>
              <a:srgbClr val="252A3A"/>
            </a:solidFill>
            <a:prstDash val="solid"/>
          </a:ln>
          <a:effectLst>
            <a:outerShdw sx="100000" sy="100000" kx="0" ky="0" algn="bl" rotWithShape="0" blurRad="63500" dist="12700" dir="2700000">
              <a:srgbClr val="000000">
                <a:alpha val="2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394960" y="1435608"/>
            <a:ext cx="365760" cy="365760"/>
          </a:xfrm>
          <a:prstGeom prst="ellipse">
            <a:avLst/>
          </a:prstGeom>
          <a:solidFill>
            <a:srgbClr val="1A1F2E"/>
          </a:solidFill>
          <a:ln w="12700">
            <a:solidFill>
              <a:srgbClr val="252A3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394960" y="14356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084064" y="1874520"/>
            <a:ext cx="9875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84064" y="2532888"/>
            <a:ext cx="98755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as cURL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296912" y="2125980"/>
            <a:ext cx="100584" cy="0"/>
          </a:xfrm>
          <a:prstGeom prst="line">
            <a:avLst/>
          </a:prstGeom>
          <a:noFill/>
          <a:ln w="12700">
            <a:solidFill>
              <a:srgbClr val="252A3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17920" y="1325880"/>
            <a:ext cx="1078992" cy="1600200"/>
          </a:xfrm>
          <a:prstGeom prst="roundRect">
            <a:avLst>
              <a:gd name="adj" fmla="val 6780"/>
            </a:avLst>
          </a:prstGeom>
          <a:solidFill>
            <a:srgbClr val="161B27"/>
          </a:solidFill>
          <a:ln w="12700">
            <a:solidFill>
              <a:srgbClr val="252A3A"/>
            </a:solidFill>
            <a:prstDash val="solid"/>
          </a:ln>
          <a:effectLst>
            <a:outerShdw sx="100000" sy="100000" kx="0" ky="0" algn="bl" rotWithShape="0" blurRad="63500" dist="12700" dir="2700000">
              <a:srgbClr val="000000">
                <a:alpha val="2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574536" y="1435608"/>
            <a:ext cx="365760" cy="365760"/>
          </a:xfrm>
          <a:prstGeom prst="ellipse">
            <a:avLst/>
          </a:prstGeom>
          <a:solidFill>
            <a:srgbClr val="1A1F2E"/>
          </a:solidFill>
          <a:ln w="12700">
            <a:solidFill>
              <a:srgbClr val="252A3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74536" y="14356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263640" y="1874520"/>
            <a:ext cx="9875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263640" y="2532888"/>
            <a:ext cx="98755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Logpoints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7397496" y="1325880"/>
            <a:ext cx="1078992" cy="1600200"/>
          </a:xfrm>
          <a:prstGeom prst="roundRect">
            <a:avLst>
              <a:gd name="adj" fmla="val 6780"/>
            </a:avLst>
          </a:prstGeom>
          <a:solidFill>
            <a:srgbClr val="161B27"/>
          </a:solidFill>
          <a:ln w="25400">
            <a:solidFill>
              <a:srgbClr val="7C5CFF"/>
            </a:solidFill>
            <a:prstDash val="solid"/>
          </a:ln>
          <a:effectLst>
            <a:outerShdw sx="100000" sy="100000" kx="0" ky="0" algn="bl" rotWithShape="0" blurRad="254000" dist="50800" dir="2700000">
              <a:srgbClr val="4C3899">
                <a:alpha val="4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7754112" y="1435608"/>
            <a:ext cx="365760" cy="365760"/>
          </a:xfrm>
          <a:prstGeom prst="ellipse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754112" y="14356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443216" y="1874520"/>
            <a:ext cx="9875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443216" y="2532888"/>
            <a:ext cx="98755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DevTools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1645920" cy="256032"/>
          </a:xfrm>
          <a:prstGeom prst="roundRect">
            <a:avLst>
              <a:gd name="adj" fmla="val 14286"/>
            </a:avLst>
          </a:prstGeom>
          <a:solidFill>
            <a:srgbClr val="1A1F2E"/>
          </a:solidFill>
          <a:ln w="12700">
            <a:solidFill>
              <a:srgbClr val="252A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27432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74320" y="612648"/>
            <a:ext cx="4114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Price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74320" y="1344168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274320" y="1545336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shows $999 instead of $49 due to a stale API response.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" y="2057400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DEVTOOLS FEATURE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2258568"/>
            <a:ext cx="2240280" cy="274320"/>
          </a:xfrm>
          <a:prstGeom prst="roundRect">
            <a:avLst>
              <a:gd name="adj" fmla="val 16667"/>
            </a:avLst>
          </a:prstGeom>
          <a:solidFill>
            <a:srgbClr val="22D3EE">
              <a:alpha val="20000"/>
            </a:srgbClr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225856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Overrides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4320" y="2633472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EQUIVALENT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834640"/>
            <a:ext cx="1522476" cy="237744"/>
          </a:xfrm>
          <a:prstGeom prst="roundRect">
            <a:avLst>
              <a:gd name="adj" fmla="val 15385"/>
            </a:avLst>
          </a:prstGeom>
          <a:solidFill>
            <a:srgbClr val="1A1F2E"/>
          </a:solidFill>
          <a:ln w="12700">
            <a:solidFill>
              <a:srgbClr val="252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2834640"/>
            <a:ext cx="1522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bug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888236" y="2834640"/>
            <a:ext cx="1828800" cy="237744"/>
          </a:xfrm>
          <a:prstGeom prst="roundRect">
            <a:avLst>
              <a:gd name="adj" fmla="val 15385"/>
            </a:avLst>
          </a:prstGeom>
          <a:solidFill>
            <a:srgbClr val="1A1F2E"/>
          </a:solidFill>
          <a:ln w="12700">
            <a:solidFill>
              <a:srgbClr val="252A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88236" y="283464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validation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3172968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74320" y="3374136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 any API response without touching source code.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" y="3904488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74320" y="4133088"/>
            <a:ext cx="182880" cy="18288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4133088"/>
            <a:ext cx="182880" cy="182880"/>
          </a:xfrm>
          <a:prstGeom prst="ellipse">
            <a:avLst/>
          </a:prstGeom>
          <a:solidFill>
            <a:srgbClr val="1A1F2E"/>
          </a:solidFill>
          <a:ln w="12700">
            <a:solidFill>
              <a:srgbClr val="252A3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4133088"/>
            <a:ext cx="182880" cy="182880"/>
          </a:xfrm>
          <a:prstGeom prst="ellipse">
            <a:avLst/>
          </a:prstGeom>
          <a:solidFill>
            <a:srgbClr val="1A1F2E"/>
          </a:solidFill>
          <a:ln w="12700">
            <a:solidFill>
              <a:srgbClr val="252A3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63440" y="274320"/>
            <a:ext cx="3977640" cy="4480560"/>
          </a:xfrm>
          <a:prstGeom prst="roundRect">
            <a:avLst>
              <a:gd name="adj" fmla="val 2299"/>
            </a:avLst>
          </a:prstGeom>
          <a:solidFill>
            <a:srgbClr val="161B27"/>
          </a:solidFill>
          <a:ln w="12700">
            <a:solidFill>
              <a:srgbClr val="252A3A"/>
            </a:solidFill>
            <a:prstDash val="solid"/>
          </a:ln>
          <a:effectLst>
            <a:outerShdw sx="100000" sy="100000" kx="0" ky="0" algn="bl" rotWithShape="0" blurRad="254000" dist="50800" dir="2700000">
              <a:srgbClr val="0891B2">
                <a:alpha val="4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63440" y="274320"/>
            <a:ext cx="3977640" cy="301752"/>
          </a:xfrm>
          <a:prstGeom prst="rect">
            <a:avLst/>
          </a:prstGeom>
          <a:solidFill>
            <a:srgbClr val="1A1F2E"/>
          </a:solidFill>
          <a:ln w="12700">
            <a:solidFill>
              <a:srgbClr val="0D0F1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274320"/>
            <a:ext cx="39319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Preview — /api/price?id=x1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773168" y="65836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773168" y="950976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"x1",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773168" y="1243584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"name": "Headphones X1",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63440" y="1517904"/>
            <a:ext cx="3977640" cy="292608"/>
          </a:xfrm>
          <a:prstGeom prst="rect">
            <a:avLst/>
          </a:prstGeom>
          <a:solidFill>
            <a:srgbClr val="F87171">
              <a:alpha val="18000"/>
            </a:srgbClr>
          </a:solidFill>
          <a:ln w="12700">
            <a:solidFill>
              <a:srgbClr val="0D0F1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73168" y="153619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"price": 999,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773168" y="182880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"currency": "USD"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773168" y="212140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937760" y="2459736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 →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773168" y="2798064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773168" y="309067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"x1",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773168" y="338328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"name": "Headphones X1",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663440" y="3657600"/>
            <a:ext cx="3977640" cy="292608"/>
          </a:xfrm>
          <a:prstGeom prst="rect">
            <a:avLst/>
          </a:prstGeom>
          <a:solidFill>
            <a:srgbClr val="4ADE80">
              <a:alpha val="18000"/>
            </a:srgbClr>
          </a:solidFill>
          <a:ln w="12700">
            <a:solidFill>
              <a:srgbClr val="0D0F1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73168" y="367588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"price": 49,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773168" y="3968496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"currency": "USD"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773168" y="4261104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1645920" cy="256032"/>
          </a:xfrm>
          <a:prstGeom prst="roundRect">
            <a:avLst>
              <a:gd name="adj" fmla="val 14286"/>
            </a:avLst>
          </a:prstGeom>
          <a:solidFill>
            <a:srgbClr val="1A1F2E"/>
          </a:solidFill>
          <a:ln w="12700">
            <a:solidFill>
              <a:srgbClr val="252A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27432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74320" y="612648"/>
            <a:ext cx="4114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Tracker Block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74320" y="1344168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274320" y="1545336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analytics tracker is slowing the page and blocking checkout.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" y="2057400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DEVTOOLS FEATURE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2258568"/>
            <a:ext cx="2002536" cy="274320"/>
          </a:xfrm>
          <a:prstGeom prst="roundRect">
            <a:avLst>
              <a:gd name="adj" fmla="val 16667"/>
            </a:avLst>
          </a:prstGeom>
          <a:solidFill>
            <a:srgbClr val="F87171">
              <a:alpha val="20000"/>
            </a:srgbClr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2258568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Request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4320" y="2633472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EQUIVALENT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834640"/>
            <a:ext cx="1828800" cy="237744"/>
          </a:xfrm>
          <a:prstGeom prst="roundRect">
            <a:avLst>
              <a:gd name="adj" fmla="val 15385"/>
            </a:avLst>
          </a:prstGeom>
          <a:solidFill>
            <a:srgbClr val="1A1F2E"/>
          </a:solidFill>
          <a:ln w="12700">
            <a:solidFill>
              <a:srgbClr val="252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283464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3rd-party scripts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194560" y="2834640"/>
            <a:ext cx="1522476" cy="237744"/>
          </a:xfrm>
          <a:prstGeom prst="roundRect">
            <a:avLst>
              <a:gd name="adj" fmla="val 15385"/>
            </a:avLst>
          </a:prstGeom>
          <a:solidFill>
            <a:srgbClr val="1A1F2E"/>
          </a:solidFill>
          <a:ln w="12700">
            <a:solidFill>
              <a:srgbClr val="252A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94560" y="2834640"/>
            <a:ext cx="1522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3172968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74320" y="3374136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specific network requests to isolate script-caused failures.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" y="3904488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74320" y="4133088"/>
            <a:ext cx="182880" cy="18288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4133088"/>
            <a:ext cx="182880" cy="182880"/>
          </a:xfrm>
          <a:prstGeom prst="ellipse">
            <a:avLst/>
          </a:prstGeom>
          <a:solidFill>
            <a:srgbClr val="1A1F2E"/>
          </a:solidFill>
          <a:ln w="12700">
            <a:solidFill>
              <a:srgbClr val="252A3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4133088"/>
            <a:ext cx="182880" cy="182880"/>
          </a:xfrm>
          <a:prstGeom prst="ellipse">
            <a:avLst/>
          </a:prstGeom>
          <a:solidFill>
            <a:srgbClr val="1A1F2E"/>
          </a:solidFill>
          <a:ln w="12700">
            <a:solidFill>
              <a:srgbClr val="252A3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63440" y="274320"/>
            <a:ext cx="3977640" cy="4480560"/>
          </a:xfrm>
          <a:prstGeom prst="roundRect">
            <a:avLst>
              <a:gd name="adj" fmla="val 2299"/>
            </a:avLst>
          </a:prstGeom>
          <a:solidFill>
            <a:srgbClr val="161B27"/>
          </a:solidFill>
          <a:ln w="12700">
            <a:solidFill>
              <a:srgbClr val="252A3A"/>
            </a:solidFill>
            <a:prstDash val="solid"/>
          </a:ln>
          <a:effectLst>
            <a:outerShdw sx="100000" sy="100000" kx="0" ky="0" algn="bl" rotWithShape="0" blurRad="127000" dist="50800" dir="2700000">
              <a:srgbClr val="F87171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63440" y="274320"/>
            <a:ext cx="3977640" cy="301752"/>
          </a:xfrm>
          <a:prstGeom prst="rect">
            <a:avLst/>
          </a:prstGeom>
          <a:solidFill>
            <a:srgbClr val="1A1F2E"/>
          </a:solidFill>
          <a:ln w="12700">
            <a:solidFill>
              <a:srgbClr val="0D0F1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274320"/>
            <a:ext cx="39319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— Request Waterfall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773168" y="777240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/api/product/x1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583680" y="841248"/>
            <a:ext cx="1005840" cy="182880"/>
          </a:xfrm>
          <a:prstGeom prst="roundRect">
            <a:avLst>
              <a:gd name="adj" fmla="val 20000"/>
            </a:avLst>
          </a:prstGeom>
          <a:solidFill>
            <a:srgbClr val="4ADE80">
              <a:alpha val="40000"/>
            </a:srgbClr>
          </a:solidFill>
          <a:ln w="12700">
            <a:solidFill>
              <a:srgbClr val="0D0F1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73168" y="1280160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/analytics/tracker.js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583680" y="1344168"/>
            <a:ext cx="1920240" cy="182880"/>
          </a:xfrm>
          <a:prstGeom prst="roundRect">
            <a:avLst>
              <a:gd name="adj" fmla="val 20000"/>
            </a:avLst>
          </a:prstGeom>
          <a:solidFill>
            <a:srgbClr val="F87171">
              <a:alpha val="85000"/>
            </a:srgbClr>
          </a:solidFill>
          <a:ln w="12700">
            <a:solidFill>
              <a:srgbClr val="0D0F1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19872" y="1316736"/>
            <a:ext cx="502920" cy="256032"/>
          </a:xfrm>
          <a:prstGeom prst="roundRect">
            <a:avLst>
              <a:gd name="adj" fmla="val 14286"/>
            </a:avLst>
          </a:prstGeom>
          <a:solidFill>
            <a:srgbClr val="F87171"/>
          </a:solidFill>
          <a:ln w="12700">
            <a:solidFill>
              <a:srgbClr val="0D0F1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19872" y="131673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773168" y="1783080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/api/checkout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583680" y="1847088"/>
            <a:ext cx="685800" cy="182880"/>
          </a:xfrm>
          <a:prstGeom prst="roundRect">
            <a:avLst>
              <a:gd name="adj" fmla="val 20000"/>
            </a:avLst>
          </a:prstGeom>
          <a:solidFill>
            <a:srgbClr val="4ADE80">
              <a:alpha val="40000"/>
            </a:srgbClr>
          </a:solidFill>
          <a:ln w="12700">
            <a:solidFill>
              <a:srgbClr val="0D0F14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1645920" cy="256032"/>
          </a:xfrm>
          <a:prstGeom prst="roundRect">
            <a:avLst>
              <a:gd name="adj" fmla="val 14286"/>
            </a:avLst>
          </a:prstGeom>
          <a:solidFill>
            <a:srgbClr val="1A1F2E"/>
          </a:solidFill>
          <a:ln w="12700">
            <a:solidFill>
              <a:srgbClr val="252A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27432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74320" y="612648"/>
            <a:ext cx="4114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Check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74320" y="1344168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274320" y="1545336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is slow on mobile networks but fast on desktop.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" y="2057400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DEVTOOLS FEATURE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2258568"/>
            <a:ext cx="2834640" cy="274320"/>
          </a:xfrm>
          <a:prstGeom prst="roundRect">
            <a:avLst>
              <a:gd name="adj" fmla="val 16667"/>
            </a:avLst>
          </a:prstGeom>
          <a:solidFill>
            <a:srgbClr val="FBBF24">
              <a:alpha val="20000"/>
            </a:srgbClr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22585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Per-Request Throttle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4320" y="2633472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EQUIVALENT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834640"/>
            <a:ext cx="1312164" cy="237744"/>
          </a:xfrm>
          <a:prstGeom prst="roundRect">
            <a:avLst>
              <a:gd name="adj" fmla="val 15385"/>
            </a:avLst>
          </a:prstGeom>
          <a:solidFill>
            <a:srgbClr val="1A1F2E"/>
          </a:solidFill>
          <a:ln w="12700">
            <a:solidFill>
              <a:srgbClr val="252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2834640"/>
            <a:ext cx="13121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UX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677924" y="2834640"/>
            <a:ext cx="1828800" cy="237744"/>
          </a:xfrm>
          <a:prstGeom prst="roundRect">
            <a:avLst>
              <a:gd name="adj" fmla="val 15385"/>
            </a:avLst>
          </a:prstGeom>
          <a:solidFill>
            <a:srgbClr val="1A1F2E"/>
          </a:solidFill>
          <a:ln w="12700">
            <a:solidFill>
              <a:srgbClr val="252A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77924" y="283464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conditions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3172968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74320" y="3374136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Throttle specific requests to simulate real-world mobile latency.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" y="3904488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74320" y="4133088"/>
            <a:ext cx="182880" cy="18288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4133088"/>
            <a:ext cx="182880" cy="18288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4133088"/>
            <a:ext cx="182880" cy="182880"/>
          </a:xfrm>
          <a:prstGeom prst="ellipse">
            <a:avLst/>
          </a:prstGeom>
          <a:solidFill>
            <a:srgbClr val="1A1F2E"/>
          </a:solidFill>
          <a:ln w="12700">
            <a:solidFill>
              <a:srgbClr val="252A3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63440" y="274320"/>
            <a:ext cx="3977640" cy="4480560"/>
          </a:xfrm>
          <a:prstGeom prst="roundRect">
            <a:avLst>
              <a:gd name="adj" fmla="val 2299"/>
            </a:avLst>
          </a:prstGeom>
          <a:solidFill>
            <a:srgbClr val="161B27"/>
          </a:solidFill>
          <a:ln w="12700">
            <a:solidFill>
              <a:srgbClr val="252A3A"/>
            </a:solidFill>
            <a:prstDash val="solid"/>
          </a:ln>
          <a:effectLst>
            <a:outerShdw sx="100000" sy="100000" kx="0" ky="0" algn="bl" rotWithShape="0" blurRad="127000" dist="50800" dir="2700000">
              <a:srgbClr val="FBBF24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63440" y="274320"/>
            <a:ext cx="3977640" cy="301752"/>
          </a:xfrm>
          <a:prstGeom prst="rect">
            <a:avLst/>
          </a:prstGeom>
          <a:solidFill>
            <a:srgbClr val="1A1F2E"/>
          </a:solidFill>
          <a:ln w="12700">
            <a:solidFill>
              <a:srgbClr val="0D0F1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274320"/>
            <a:ext cx="39319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— Per-Request Throttle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773168" y="7498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/api/product/x1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583680" y="795528"/>
            <a:ext cx="731520" cy="182880"/>
          </a:xfrm>
          <a:prstGeom prst="roundRect">
            <a:avLst>
              <a:gd name="adj" fmla="val 20000"/>
            </a:avLst>
          </a:prstGeom>
          <a:solidFill>
            <a:srgbClr val="4ADE80">
              <a:alpha val="40000"/>
            </a:srgbClr>
          </a:solidFill>
          <a:ln w="12700">
            <a:solidFill>
              <a:srgbClr val="0D0F1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70064" y="795528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12ms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773168" y="126187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/api/ping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583680" y="1307592"/>
            <a:ext cx="2057400" cy="182880"/>
          </a:xfrm>
          <a:prstGeom prst="roundRect">
            <a:avLst>
              <a:gd name="adj" fmla="val 20000"/>
            </a:avLst>
          </a:prstGeom>
          <a:solidFill>
            <a:srgbClr val="FBBF24">
              <a:alpha val="70000"/>
            </a:srgbClr>
          </a:solidFill>
          <a:ln w="12700">
            <a:solidFill>
              <a:srgbClr val="0D0F1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01968" y="1307592"/>
            <a:ext cx="2020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61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THROTTLED 2.4s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846320" y="2057400"/>
            <a:ext cx="3749040" cy="566928"/>
          </a:xfrm>
          <a:prstGeom prst="roundRect">
            <a:avLst>
              <a:gd name="adj" fmla="val 12903"/>
            </a:avLst>
          </a:prstGeom>
          <a:solidFill>
            <a:srgbClr val="1A1F2E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46320" y="2057400"/>
            <a:ext cx="3749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Throttle Profile: 3G Mobile — 750 kb/s down  250 kb/s up  100ms RTT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1645920" cy="256032"/>
          </a:xfrm>
          <a:prstGeom prst="roundRect">
            <a:avLst>
              <a:gd name="adj" fmla="val 14286"/>
            </a:avLst>
          </a:prstGeom>
          <a:solidFill>
            <a:srgbClr val="1A1F2E"/>
          </a:solidFill>
          <a:ln w="12700">
            <a:solidFill>
              <a:srgbClr val="252A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27432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74320" y="612648"/>
            <a:ext cx="4114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 Headers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74320" y="1344168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274320" y="1545336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flag requires a custom header you can't add in production.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" y="2057400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DEVTOOLS FEATURE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2258568"/>
            <a:ext cx="2359152" cy="274320"/>
          </a:xfrm>
          <a:prstGeom prst="roundRect">
            <a:avLst>
              <a:gd name="adj" fmla="val 16667"/>
            </a:avLst>
          </a:prstGeom>
          <a:solidFill>
            <a:srgbClr val="4ADE80">
              <a:alpha val="20000"/>
            </a:srgbClr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225856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 Headers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4320" y="2633472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EQUIVALENT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834640"/>
            <a:ext cx="1732788" cy="237744"/>
          </a:xfrm>
          <a:prstGeom prst="roundRect">
            <a:avLst>
              <a:gd name="adj" fmla="val 15385"/>
            </a:avLst>
          </a:prstGeom>
          <a:solidFill>
            <a:srgbClr val="1A1F2E"/>
          </a:solidFill>
          <a:ln w="12700">
            <a:solidFill>
              <a:srgbClr val="252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2834640"/>
            <a:ext cx="17327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flags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098548" y="2834640"/>
            <a:ext cx="1522476" cy="237744"/>
          </a:xfrm>
          <a:prstGeom prst="roundRect">
            <a:avLst>
              <a:gd name="adj" fmla="val 15385"/>
            </a:avLst>
          </a:prstGeom>
          <a:solidFill>
            <a:srgbClr val="1A1F2E"/>
          </a:solidFill>
          <a:ln w="12700">
            <a:solidFill>
              <a:srgbClr val="252A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98548" y="2834640"/>
            <a:ext cx="1522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A/B testing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3172968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74320" y="3374136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 custom HTTP headers into outgoing requests without code.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" y="3904488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74320" y="4133088"/>
            <a:ext cx="182880" cy="18288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4133088"/>
            <a:ext cx="182880" cy="18288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4133088"/>
            <a:ext cx="182880" cy="182880"/>
          </a:xfrm>
          <a:prstGeom prst="ellipse">
            <a:avLst/>
          </a:prstGeom>
          <a:solidFill>
            <a:srgbClr val="1A1F2E"/>
          </a:solidFill>
          <a:ln w="12700">
            <a:solidFill>
              <a:srgbClr val="252A3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63440" y="274320"/>
            <a:ext cx="3977640" cy="4480560"/>
          </a:xfrm>
          <a:prstGeom prst="roundRect">
            <a:avLst>
              <a:gd name="adj" fmla="val 2299"/>
            </a:avLst>
          </a:prstGeom>
          <a:solidFill>
            <a:srgbClr val="161B27"/>
          </a:solidFill>
          <a:ln w="12700">
            <a:solidFill>
              <a:srgbClr val="252A3A"/>
            </a:solidFill>
            <a:prstDash val="solid"/>
          </a:ln>
          <a:effectLst>
            <a:outerShdw sx="100000" sy="100000" kx="0" ky="0" algn="bl" rotWithShape="0" blurRad="127000" dist="50800" dir="2700000">
              <a:srgbClr val="4ADE80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63440" y="274320"/>
            <a:ext cx="3977640" cy="301752"/>
          </a:xfrm>
          <a:prstGeom prst="rect">
            <a:avLst/>
          </a:prstGeom>
          <a:solidFill>
            <a:srgbClr val="1A1F2E"/>
          </a:solidFill>
          <a:ln w="12700">
            <a:solidFill>
              <a:srgbClr val="0D0F1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274320"/>
            <a:ext cx="39319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Headers — /api/checkout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773168" y="6858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309360" y="6858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application/json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773168" y="10698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x-request-id: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309360" y="1069848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abc123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1426464"/>
            <a:ext cx="3977640" cy="329184"/>
          </a:xfrm>
          <a:prstGeom prst="rect">
            <a:avLst/>
          </a:prstGeom>
          <a:solidFill>
            <a:srgbClr val="4ADE80">
              <a:alpha val="20000"/>
            </a:srgbClr>
          </a:solidFill>
          <a:ln w="12700">
            <a:solidFill>
              <a:srgbClr val="0D0F1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73168" y="145389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test-header-value: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309360" y="1453896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← INJECTED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773168" y="1837944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cache-control: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309360" y="1837944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no-store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1645920" cy="256032"/>
          </a:xfrm>
          <a:prstGeom prst="roundRect">
            <a:avLst>
              <a:gd name="adj" fmla="val 14286"/>
            </a:avLst>
          </a:prstGeom>
          <a:solidFill>
            <a:srgbClr val="1A1F2E"/>
          </a:solidFill>
          <a:ln w="12700">
            <a:solidFill>
              <a:srgbClr val="252A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27432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74320" y="612648"/>
            <a:ext cx="4114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Checkout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74320" y="1344168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274320" y="1545336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API returns an error that only happens in this browser session.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" y="2057400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DEVTOOLS FEATURE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2258568"/>
            <a:ext cx="1883664" cy="274320"/>
          </a:xfrm>
          <a:prstGeom prst="roundRect">
            <a:avLst>
              <a:gd name="adj" fmla="val 16667"/>
            </a:avLst>
          </a:prstGeom>
          <a:solidFill>
            <a:srgbClr val="64748B">
              <a:alpha val="20000"/>
            </a:srgbClr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2258568"/>
            <a:ext cx="1883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as cURL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4320" y="2633472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EQUIVALENT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834640"/>
            <a:ext cx="1732788" cy="237744"/>
          </a:xfrm>
          <a:prstGeom prst="roundRect">
            <a:avLst>
              <a:gd name="adj" fmla="val 15385"/>
            </a:avLst>
          </a:prstGeom>
          <a:solidFill>
            <a:srgbClr val="1A1F2E"/>
          </a:solidFill>
          <a:ln w="12700">
            <a:solidFill>
              <a:srgbClr val="252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2834640"/>
            <a:ext cx="17327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debugging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098548" y="2834640"/>
            <a:ext cx="1828800" cy="237744"/>
          </a:xfrm>
          <a:prstGeom prst="roundRect">
            <a:avLst>
              <a:gd name="adj" fmla="val 15385"/>
            </a:avLst>
          </a:prstGeom>
          <a:solidFill>
            <a:srgbClr val="1A1F2E"/>
          </a:solidFill>
          <a:ln w="12700">
            <a:solidFill>
              <a:srgbClr val="252A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98548" y="283464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reproduction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3172968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74320" y="3374136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 any browser request exactly in terminal to isolate the issue.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" y="3904488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74320" y="4133088"/>
            <a:ext cx="182880" cy="18288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4133088"/>
            <a:ext cx="182880" cy="18288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4133088"/>
            <a:ext cx="182880" cy="182880"/>
          </a:xfrm>
          <a:prstGeom prst="ellipse">
            <a:avLst/>
          </a:prstGeom>
          <a:solidFill>
            <a:srgbClr val="1A1F2E"/>
          </a:solidFill>
          <a:ln w="12700">
            <a:solidFill>
              <a:srgbClr val="252A3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63440" y="274320"/>
            <a:ext cx="3977640" cy="4480560"/>
          </a:xfrm>
          <a:prstGeom prst="roundRect">
            <a:avLst>
              <a:gd name="adj" fmla="val 2759"/>
            </a:avLst>
          </a:prstGeom>
          <a:solidFill>
            <a:srgbClr val="0A0E14"/>
          </a:solidFill>
          <a:ln w="12700">
            <a:solidFill>
              <a:srgbClr val="252A3A"/>
            </a:solidFill>
            <a:prstDash val="solid"/>
          </a:ln>
          <a:effectLst>
            <a:outerShdw sx="100000" sy="100000" kx="0" ky="0" algn="bl" rotWithShape="0" blurRad="63500" dist="12700" dir="2700000">
              <a:srgbClr val="000000">
                <a:alpha val="2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63440" y="274320"/>
            <a:ext cx="3977640" cy="301752"/>
          </a:xfrm>
          <a:prstGeom prst="rect">
            <a:avLst/>
          </a:prstGeom>
          <a:solidFill>
            <a:srgbClr val="1A1F2E"/>
          </a:solidFill>
          <a:ln w="12700">
            <a:solidFill>
              <a:srgbClr val="0D0F1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46320" y="374904"/>
            <a:ext cx="109728" cy="109728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10912" y="374904"/>
            <a:ext cx="109728" cy="10972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175504" y="374904"/>
            <a:ext cx="109728" cy="109728"/>
          </a:xfrm>
          <a:prstGeom prst="ellipse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63440" y="274320"/>
            <a:ext cx="39776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791456" y="658368"/>
            <a:ext cx="38953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https://app.localhost/api/checkout-broken \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791456" y="932688"/>
            <a:ext cx="38953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-H 'Content-Type: application/json' \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791456" y="1207008"/>
            <a:ext cx="38953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-H 'test-header-value: 1' \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791456" y="1481328"/>
            <a:ext cx="38953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-d '{"productId":"x1","coupon":"SAVE20"}'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91456" y="1755648"/>
            <a:ext cx="38953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91456" y="2029968"/>
            <a:ext cx="38953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91456" y="2304288"/>
            <a:ext cx="38953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"error": "invalid_coupon",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791456" y="2578608"/>
            <a:ext cx="38953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"message": "Coupon SAVE20 expired"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791456" y="2852928"/>
            <a:ext cx="38953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1645920" cy="256032"/>
          </a:xfrm>
          <a:prstGeom prst="roundRect">
            <a:avLst>
              <a:gd name="adj" fmla="val 14286"/>
            </a:avLst>
          </a:prstGeom>
          <a:solidFill>
            <a:srgbClr val="1A1F2E"/>
          </a:solidFill>
          <a:ln w="12700">
            <a:solidFill>
              <a:srgbClr val="252A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27432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74320" y="612648"/>
            <a:ext cx="4114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Calculation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74320" y="1344168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274320" y="1545336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discount calculation is producing wrong totals — no error thrown.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" y="2057400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DEVTOOLS FEATURE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2258568"/>
            <a:ext cx="1527048" cy="274320"/>
          </a:xfrm>
          <a:prstGeom prst="roundRect">
            <a:avLst>
              <a:gd name="adj" fmla="val 16667"/>
            </a:avLst>
          </a:prstGeom>
          <a:solidFill>
            <a:srgbClr val="7C5CFF">
              <a:alpha val="20000"/>
            </a:srgbClr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2258568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5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Logpoints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4320" y="2633472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EQUIVALENT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834640"/>
            <a:ext cx="1522476" cy="237744"/>
          </a:xfrm>
          <a:prstGeom prst="roundRect">
            <a:avLst>
              <a:gd name="adj" fmla="val 15385"/>
            </a:avLst>
          </a:prstGeom>
          <a:solidFill>
            <a:srgbClr val="1A1F2E"/>
          </a:solidFill>
          <a:ln w="12700">
            <a:solidFill>
              <a:srgbClr val="252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2834640"/>
            <a:ext cx="1522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bugs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888236" y="2834640"/>
            <a:ext cx="1828800" cy="237744"/>
          </a:xfrm>
          <a:prstGeom prst="roundRect">
            <a:avLst>
              <a:gd name="adj" fmla="val 15385"/>
            </a:avLst>
          </a:prstGeom>
          <a:solidFill>
            <a:srgbClr val="1A1F2E"/>
          </a:solidFill>
          <a:ln w="12700">
            <a:solidFill>
              <a:srgbClr val="252A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88236" y="283464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3172968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74320" y="3374136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console log statements into running code without editing files.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" y="3904488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74320" y="4133088"/>
            <a:ext cx="182880" cy="18288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4133088"/>
            <a:ext cx="182880" cy="18288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4133088"/>
            <a:ext cx="182880" cy="18288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63440" y="274320"/>
            <a:ext cx="3977640" cy="4480560"/>
          </a:xfrm>
          <a:prstGeom prst="roundRect">
            <a:avLst>
              <a:gd name="adj" fmla="val 2299"/>
            </a:avLst>
          </a:prstGeom>
          <a:solidFill>
            <a:srgbClr val="161B27"/>
          </a:solidFill>
          <a:ln w="12700">
            <a:solidFill>
              <a:srgbClr val="252A3A"/>
            </a:solidFill>
            <a:prstDash val="solid"/>
          </a:ln>
          <a:effectLst>
            <a:outerShdw sx="100000" sy="100000" kx="0" ky="0" algn="bl" rotWithShape="0" blurRad="254000" dist="50800" dir="2700000">
              <a:srgbClr val="4C3899">
                <a:alpha val="4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63440" y="274320"/>
            <a:ext cx="3977640" cy="301752"/>
          </a:xfrm>
          <a:prstGeom prst="rect">
            <a:avLst/>
          </a:prstGeom>
          <a:solidFill>
            <a:srgbClr val="1A1F2E"/>
          </a:solidFill>
          <a:ln w="12700">
            <a:solidFill>
              <a:srgbClr val="0D0F1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274320"/>
            <a:ext cx="39319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— checkout.js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901184" y="658368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230368" y="658368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applyDiscount(price, coupon) {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901184" y="978408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230368" y="978408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rate = COUPON_RATES[coupon];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663440" y="1280160"/>
            <a:ext cx="3977640" cy="292608"/>
          </a:xfrm>
          <a:prstGeom prst="rect">
            <a:avLst/>
          </a:prstGeom>
          <a:solidFill>
            <a:srgbClr val="7C5CFF">
              <a:alpha val="15000"/>
            </a:srgbClr>
          </a:solidFill>
          <a:ln w="12700">
            <a:solidFill>
              <a:srgbClr val="0D0F1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663440" y="1335024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7C5CFF"/>
          </a:solidFill>
          <a:ln w="12700">
            <a:solidFill>
              <a:srgbClr val="0D0F1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63440" y="13350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901184" y="1298448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230368" y="1298448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discount = price * rate;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901184" y="1618488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230368" y="1618488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price - discount;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901184" y="1938528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230368" y="1938528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377440"/>
            <a:ext cx="3977640" cy="228600"/>
          </a:xfrm>
          <a:prstGeom prst="rect">
            <a:avLst/>
          </a:prstGeom>
          <a:solidFill>
            <a:srgbClr val="1A1F2E"/>
          </a:solidFill>
          <a:ln w="12700">
            <a:solidFill>
              <a:srgbClr val="0D0F1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37744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773168" y="267919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5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◆ price=49 rate=undefined discount=NaN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773168" y="3008376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◆ price=49 rate=0.2 discount=9.8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1645920" cy="256032"/>
          </a:xfrm>
          <a:prstGeom prst="roundRect">
            <a:avLst>
              <a:gd name="adj" fmla="val 14286"/>
            </a:avLst>
          </a:prstGeom>
          <a:solidFill>
            <a:srgbClr val="1A1F2E"/>
          </a:solidFill>
          <a:ln w="12700">
            <a:solidFill>
              <a:srgbClr val="252A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27432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74320" y="612648"/>
            <a:ext cx="4114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Debug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74320" y="1344168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274320" y="1545336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BuyButton component doesn't trigger despite state appearing correct.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" y="2057400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DEVTOOLS FEATURE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2258568"/>
            <a:ext cx="2121408" cy="274320"/>
          </a:xfrm>
          <a:prstGeom prst="roundRect">
            <a:avLst>
              <a:gd name="adj" fmla="val 16667"/>
            </a:avLst>
          </a:prstGeom>
          <a:solidFill>
            <a:srgbClr val="4ADE80">
              <a:alpha val="20000"/>
            </a:srgbClr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225856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DevTools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4320" y="2633472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EQUIVALENT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834640"/>
            <a:ext cx="1828800" cy="237744"/>
          </a:xfrm>
          <a:prstGeom prst="roundRect">
            <a:avLst>
              <a:gd name="adj" fmla="val 15385"/>
            </a:avLst>
          </a:prstGeom>
          <a:solidFill>
            <a:srgbClr val="1A1F2E"/>
          </a:solidFill>
          <a:ln w="12700">
            <a:solidFill>
              <a:srgbClr val="252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283464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state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194560" y="2834640"/>
            <a:ext cx="1522476" cy="237744"/>
          </a:xfrm>
          <a:prstGeom prst="roundRect">
            <a:avLst>
              <a:gd name="adj" fmla="val 15385"/>
            </a:avLst>
          </a:prstGeom>
          <a:solidFill>
            <a:srgbClr val="1A1F2E"/>
          </a:solidFill>
          <a:ln w="12700">
            <a:solidFill>
              <a:srgbClr val="252A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94560" y="2834640"/>
            <a:ext cx="1522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props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3172968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74320" y="3374136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and manipulate React component state in real time.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" y="3904488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74320" y="4133088"/>
            <a:ext cx="182880" cy="18288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4133088"/>
            <a:ext cx="182880" cy="18288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4133088"/>
            <a:ext cx="182880" cy="18288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63440" y="274320"/>
            <a:ext cx="3977640" cy="4480560"/>
          </a:xfrm>
          <a:prstGeom prst="roundRect">
            <a:avLst>
              <a:gd name="adj" fmla="val 2299"/>
            </a:avLst>
          </a:prstGeom>
          <a:solidFill>
            <a:srgbClr val="161B27"/>
          </a:solidFill>
          <a:ln w="12700">
            <a:solidFill>
              <a:srgbClr val="252A3A"/>
            </a:solidFill>
            <a:prstDash val="solid"/>
          </a:ln>
          <a:effectLst>
            <a:outerShdw sx="100000" sy="100000" kx="0" ky="0" algn="bl" rotWithShape="0" blurRad="127000" dist="50800" dir="2700000">
              <a:srgbClr val="4ADE80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63440" y="274320"/>
            <a:ext cx="3977640" cy="301752"/>
          </a:xfrm>
          <a:prstGeom prst="rect">
            <a:avLst/>
          </a:prstGeom>
          <a:solidFill>
            <a:srgbClr val="1A1F2E"/>
          </a:solidFill>
          <a:ln w="12700">
            <a:solidFill>
              <a:srgbClr val="0D0F1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274320"/>
            <a:ext cx="39319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DevTools — Components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773168" y="667512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▶ App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773168" y="978408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▶ ProductSection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63440" y="1271016"/>
            <a:ext cx="2331720" cy="274320"/>
          </a:xfrm>
          <a:prstGeom prst="rect">
            <a:avLst/>
          </a:prstGeom>
          <a:solidFill>
            <a:srgbClr val="4ADE80">
              <a:alpha val="20000"/>
            </a:srgbClr>
          </a:solidFill>
          <a:ln w="12700">
            <a:solidFill>
              <a:srgbClr val="0D0F1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73168" y="1289304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▶ BuyButton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773168" y="1600200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▸ Spinner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22592" y="621792"/>
            <a:ext cx="1645920" cy="1737360"/>
          </a:xfrm>
          <a:prstGeom prst="rect">
            <a:avLst/>
          </a:prstGeom>
          <a:solidFill>
            <a:srgbClr val="1A1F2E"/>
          </a:solidFill>
          <a:ln w="12700">
            <a:solidFill>
              <a:srgbClr val="252A3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86600" y="658368"/>
            <a:ext cx="1508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086600" y="969264"/>
            <a:ext cx="1508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buying: </a:t>
            </a:r>
            <a:pPr indent="0" marL="0">
              <a:buNone/>
            </a:pPr>
            <a:r>
              <a:rPr lang="en-US" sz="10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086600" y="1280160"/>
            <a:ext cx="1508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order: </a:t>
            </a:r>
            <a:pPr indent="0" marL="0">
              <a:buNone/>
            </a:pPr>
            <a:r>
              <a:rPr lang="en-US" sz="10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754880" y="2724912"/>
            <a:ext cx="1691640" cy="237744"/>
          </a:xfrm>
          <a:prstGeom prst="roundRect">
            <a:avLst>
              <a:gd name="adj" fmla="val 15385"/>
            </a:avLst>
          </a:prstGeom>
          <a:solidFill>
            <a:srgbClr val="4ADE80">
              <a:alpha val="15000"/>
            </a:srgbClr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54880" y="272491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Suspense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556248" y="2724912"/>
            <a:ext cx="1691640" cy="237744"/>
          </a:xfrm>
          <a:prstGeom prst="roundRect">
            <a:avLst>
              <a:gd name="adj" fmla="val 15385"/>
            </a:avLst>
          </a:prstGeom>
          <a:solidFill>
            <a:srgbClr val="4ADE80">
              <a:alpha val="15000"/>
            </a:srgbClr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56248" y="272491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Boundary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754880" y="3035808"/>
            <a:ext cx="1691640" cy="237744"/>
          </a:xfrm>
          <a:prstGeom prst="roundRect">
            <a:avLst>
              <a:gd name="adj" fmla="val 15385"/>
            </a:avLst>
          </a:prstGeom>
          <a:solidFill>
            <a:srgbClr val="4ADE80">
              <a:alpha val="15000"/>
            </a:srgbClr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3035808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556248" y="3035808"/>
            <a:ext cx="1691640" cy="237744"/>
          </a:xfrm>
          <a:prstGeom prst="roundRect">
            <a:avLst>
              <a:gd name="adj" fmla="val 15385"/>
            </a:avLst>
          </a:prstGeom>
          <a:solidFill>
            <a:srgbClr val="4ADE80">
              <a:alpha val="15000"/>
            </a:srgbClr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56248" y="3035808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Editor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7C5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TRANSFORMATION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7607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→ After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98448"/>
            <a:ext cx="3749040" cy="3108960"/>
          </a:xfrm>
          <a:prstGeom prst="roundRect">
            <a:avLst>
              <a:gd name="adj" fmla="val 2941"/>
            </a:avLst>
          </a:prstGeom>
          <a:solidFill>
            <a:srgbClr val="161B27"/>
          </a:solidFill>
          <a:ln w="12700">
            <a:solidFill>
              <a:srgbClr val="F87171"/>
            </a:solidFill>
            <a:prstDash val="solid"/>
          </a:ln>
          <a:effectLst>
            <a:outerShdw sx="100000" sy="100000" kx="0" ky="0" algn="bl" rotWithShape="0" blurRad="63500" dist="12700" dir="2700000">
              <a:srgbClr val="00000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463040"/>
            <a:ext cx="3474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847088"/>
            <a:ext cx="3474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can’t reproduce it.”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40080" y="2624328"/>
            <a:ext cx="3200400" cy="274320"/>
          </a:xfrm>
          <a:prstGeom prst="roundRect">
            <a:avLst>
              <a:gd name="adj" fmla="val 13333"/>
            </a:avLst>
          </a:prstGeom>
          <a:solidFill>
            <a:srgbClr val="1A1F2E"/>
          </a:solidFill>
          <a:ln w="12700">
            <a:solidFill>
              <a:srgbClr val="252A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6243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a ticket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3008376"/>
            <a:ext cx="3200400" cy="274320"/>
          </a:xfrm>
          <a:prstGeom prst="roundRect">
            <a:avLst>
              <a:gd name="adj" fmla="val 13333"/>
            </a:avLst>
          </a:prstGeom>
          <a:solidFill>
            <a:srgbClr val="1A1F2E"/>
          </a:solidFill>
          <a:ln w="12700">
            <a:solidFill>
              <a:srgbClr val="252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00837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for logs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3392424"/>
            <a:ext cx="3200400" cy="274320"/>
          </a:xfrm>
          <a:prstGeom prst="roundRect">
            <a:avLst>
              <a:gd name="adj" fmla="val 13333"/>
            </a:avLst>
          </a:prstGeom>
          <a:solidFill>
            <a:srgbClr val="1A1F2E"/>
          </a:solidFill>
          <a:ln w="12700">
            <a:solidFill>
              <a:srgbClr val="252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39242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Hope it happens again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206240" y="22860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7C5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5029200" y="1298448"/>
            <a:ext cx="3657600" cy="3108960"/>
          </a:xfrm>
          <a:prstGeom prst="roundRect">
            <a:avLst>
              <a:gd name="adj" fmla="val 2941"/>
            </a:avLst>
          </a:prstGeom>
          <a:solidFill>
            <a:srgbClr val="161B27"/>
          </a:solidFill>
          <a:ln w="12700">
            <a:solidFill>
              <a:srgbClr val="4ADE80"/>
            </a:solidFill>
            <a:prstDash val="solid"/>
          </a:ln>
          <a:effectLst>
            <a:outerShdw sx="100000" sy="100000" kx="0" ky="0" algn="bl" rotWithShape="0" blurRad="254000" dist="50800" dir="2700000">
              <a:srgbClr val="4C3899">
                <a:alpha val="4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166360" y="1463040"/>
            <a:ext cx="3474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166360" y="1847088"/>
            <a:ext cx="34747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know exactly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happens.”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5303520" y="2715768"/>
            <a:ext cx="3200400" cy="274320"/>
          </a:xfrm>
          <a:prstGeom prst="roundRect">
            <a:avLst>
              <a:gd name="adj" fmla="val 13333"/>
            </a:avLst>
          </a:prstGeom>
          <a:solidFill>
            <a:srgbClr val="4ADE80">
              <a:alpha val="15000"/>
            </a:srgbClr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3520" y="27157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 the response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303520" y="3099816"/>
            <a:ext cx="3200400" cy="274320"/>
          </a:xfrm>
          <a:prstGeom prst="roundRect">
            <a:avLst>
              <a:gd name="adj" fmla="val 13333"/>
            </a:avLst>
          </a:prstGeom>
          <a:solidFill>
            <a:srgbClr val="4ADE80">
              <a:alpha val="15000"/>
            </a:srgbClr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03520" y="309981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the script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303520" y="3483864"/>
            <a:ext cx="3200400" cy="274320"/>
          </a:xfrm>
          <a:prstGeom prst="roundRect">
            <a:avLst>
              <a:gd name="adj" fmla="val 13333"/>
            </a:avLst>
          </a:prstGeom>
          <a:solidFill>
            <a:srgbClr val="4ADE80">
              <a:alpha val="15000"/>
            </a:srgbClr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03520" y="348386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Throttle the request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20040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7C5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41148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end, you'll debug production like a senior engineer — without touching a single line of code.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0" y="676656"/>
            <a:ext cx="27432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0" y="6583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production safely</a:t>
            </a:r>
            <a:endParaRPr lang="en-US" sz="13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78992"/>
            <a:ext cx="274320" cy="2743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029200" y="1060704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backend assumptions</a:t>
            </a:r>
            <a:endParaRPr lang="en-US" sz="13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481328"/>
            <a:ext cx="274320" cy="27432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5029200" y="14630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 third-party failures</a:t>
            </a:r>
            <a:endParaRPr lang="en-US" sz="13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1883664"/>
            <a:ext cx="274320" cy="27432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5029200" y="1865376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 network conditions</a:t>
            </a:r>
            <a:endParaRPr lang="en-US" sz="1300" dirty="0"/>
          </a:p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2286000"/>
            <a:ext cx="274320" cy="27432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5029200" y="226771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without code changes</a:t>
            </a:r>
            <a:endParaRPr lang="en-US" sz="1300" dirty="0"/>
          </a:p>
        </p:txBody>
      </p:sp>
      <p:pic>
        <p:nvPicPr>
          <p:cNvPr id="1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2688336"/>
            <a:ext cx="274320" cy="274320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5029200" y="267004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actionable bug reports</a:t>
            </a:r>
            <a:endParaRPr lang="en-US" sz="1300" dirty="0"/>
          </a:p>
        </p:txBody>
      </p:sp>
      <p:sp>
        <p:nvSpPr>
          <p:cNvPr id="16" name="Shape 8"/>
          <p:cNvSpPr/>
          <p:nvPr/>
        </p:nvSpPr>
        <p:spPr>
          <a:xfrm>
            <a:off x="365760" y="41605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1A1F2E"/>
          </a:solidFill>
          <a:ln w="12700">
            <a:solidFill>
              <a:srgbClr val="4C3899"/>
            </a:solidFill>
            <a:prstDash val="solid"/>
          </a:ln>
          <a:effectLst>
            <a:outerShdw sx="100000" sy="100000" kx="0" ky="0" algn="bl" rotWithShape="0" blurRad="254000" dist="50800" dir="2700000">
              <a:srgbClr val="4C3899">
                <a:alpha val="40000"/>
              </a:srgbClr>
            </a:outerShdw>
          </a:effectLst>
        </p:spPr>
      </p:sp>
      <p:sp>
        <p:nvSpPr>
          <p:cNvPr id="17" name="Text 9"/>
          <p:cNvSpPr/>
          <p:nvPr/>
        </p:nvSpPr>
        <p:spPr>
          <a:xfrm>
            <a:off x="365760" y="416052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5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“Think like a production engineer.”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Chrome DevTools Playground</dc:title>
  <dc:subject>PptxGenJS Presentation</dc:subject>
  <dc:creator>Engineering Workshop</dc:creator>
  <cp:lastModifiedBy>Engineering Workshop</cp:lastModifiedBy>
  <cp:revision>1</cp:revision>
  <dcterms:created xsi:type="dcterms:W3CDTF">2026-06-30T21:53:57Z</dcterms:created>
  <dcterms:modified xsi:type="dcterms:W3CDTF">2026-06-30T21:53:57Z</dcterms:modified>
</cp:coreProperties>
</file>